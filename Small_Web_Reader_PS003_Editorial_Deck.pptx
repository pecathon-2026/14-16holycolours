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07808" y="0"/>
            <a:ext cx="4583887" cy="6858000"/>
          </a:xfrm>
          <a:prstGeom prst="rect">
            <a:avLst/>
          </a:prstGeom>
          <a:solidFill>
            <a:srgbClr val="224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61504" y="0"/>
            <a:ext cx="146304" cy="6858000"/>
          </a:xfrm>
          <a:prstGeom prst="rect">
            <a:avLst/>
          </a:prstGeom>
          <a:solidFill>
            <a:srgbClr val="C26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D1D796"/>
                </a:solidFill>
                <a:latin typeface="Aptos"/>
              </a:rPr>
              <a:t>S.  SMALL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9047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B1BEA6"/>
                </a:solidFill>
                <a:latin typeface="Aptos"/>
              </a:rPr>
              <a:t>PS-003  /  PRODUCT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66294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900" b="0" i="0">
                <a:solidFill>
                  <a:srgbClr val="FFFFF8"/>
                </a:solidFill>
                <a:latin typeface="Georgia"/>
              </a:rPr>
              <a:t>The web is still
worth wandering.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33672"/>
            <a:ext cx="62179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B1BEA6"/>
                </a:solidFill>
                <a:latin typeface="Aptos"/>
              </a:rPr>
              <a:t>A reader for independent writing.
Find it. Follow it. Make time for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5669280"/>
            <a:ext cx="6099048" cy="0"/>
          </a:xfrm>
          <a:prstGeom prst="line">
            <a:avLst/>
          </a:prstGeom>
          <a:ln w="12700">
            <a:solidFill>
              <a:srgbClr val="4E6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5870448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D1D796"/>
                </a:solidFill>
                <a:latin typeface="Aptos"/>
              </a:rPr>
              <a:t>DISCOVER     FOLLOW     READ     RETURN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1865376"/>
            <a:ext cx="3886200" cy="2157984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ing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075795"/>
            <a:ext cx="3703320" cy="1737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74152" y="4297680"/>
            <a:ext cx="3685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D1D796"/>
                </a:solidFill>
                <a:latin typeface="Aptos"/>
              </a:rPr>
              <a:t>INDEPENDENT BY 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4736592"/>
            <a:ext cx="3685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8"/>
                </a:solidFill>
                <a:latin typeface="Aptos"/>
              </a:rPr>
              <a:t>A SMALL WEB 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43891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D1D796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04904" y="5303520"/>
            <a:ext cx="20116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B1BEA6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224338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F7567"/>
                </a:solidFill>
                <a:latin typeface="Aptos"/>
              </a:rPr>
              <a:t>THE IDEA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6F7567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6F7567"/>
                </a:solidFill>
                <a:latin typeface="Aptos"/>
              </a:rPr>
              <a:t>02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76809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0" i="0">
                <a:solidFill>
                  <a:srgbClr val="222B25"/>
                </a:solidFill>
                <a:latin typeface="Georgia"/>
              </a:rPr>
              <a:t>Independent writing
deserves a better home.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14600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6F7567"/>
                </a:solidFill>
                <a:latin typeface="Aptos"/>
              </a:rPr>
              <a:t>Small Web Reader brings the publications you choose into one calm reading 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822191"/>
            <a:ext cx="2103120" cy="1554480"/>
          </a:xfrm>
          <a:prstGeom prst="rect">
            <a:avLst/>
          </a:prstGeom>
          <a:solidFill>
            <a:srgbClr val="FAF7EE"/>
          </a:solidFill>
          <a:ln w="10160">
            <a:solidFill>
              <a:srgbClr val="CAC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77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C26543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4256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172F28"/>
                </a:solidFill>
                <a:latin typeface="Aptos"/>
              </a:rP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77316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6F7567"/>
                </a:solidFill>
                <a:latin typeface="Aptos"/>
              </a:rPr>
              <a:t>Start with topics and independent publications.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4453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C26543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3822191"/>
            <a:ext cx="2103120" cy="1554480"/>
          </a:xfrm>
          <a:prstGeom prst="rect">
            <a:avLst/>
          </a:prstGeom>
          <a:solidFill>
            <a:srgbClr val="FAF7EE"/>
          </a:solidFill>
          <a:ln w="10160">
            <a:solidFill>
              <a:srgbClr val="CAC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977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C26543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4256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172F28"/>
                </a:solidFill>
                <a:latin typeface="Aptos"/>
              </a:rPr>
              <a:t>FOLLOW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77316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6F7567"/>
                </a:solidFill>
                <a:latin typeface="Aptos"/>
              </a:rPr>
              <a:t>Keep the writers you want to hear from.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453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C26543"/>
                </a:solidFill>
                <a:latin typeface="Georgia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5664" y="3822191"/>
            <a:ext cx="2103120" cy="1554480"/>
          </a:xfrm>
          <a:prstGeom prst="rect">
            <a:avLst/>
          </a:prstGeom>
          <a:solidFill>
            <a:srgbClr val="FAF7EE"/>
          </a:solidFill>
          <a:ln w="10160">
            <a:solidFill>
              <a:srgbClr val="CAC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5" y="3977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C26543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5" y="44256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172F28"/>
                </a:solidFill>
                <a:latin typeface="Aptos"/>
              </a:rPr>
              <a:t>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5" y="477316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6F7567"/>
                </a:solidFill>
                <a:latin typeface="Aptos"/>
              </a:rPr>
              <a:t>See new posts together in one timeline.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44531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 i="0">
                <a:solidFill>
                  <a:srgbClr val="C26543"/>
                </a:solidFill>
                <a:latin typeface="Georg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3822191"/>
            <a:ext cx="2103120" cy="1554480"/>
          </a:xfrm>
          <a:prstGeom prst="rect">
            <a:avLst/>
          </a:prstGeom>
          <a:solidFill>
            <a:srgbClr val="FAF7EE"/>
          </a:solidFill>
          <a:ln w="10160">
            <a:solidFill>
              <a:srgbClr val="CAC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3977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C26543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44256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172F28"/>
                </a:solidFill>
                <a:latin typeface="Aptos"/>
              </a:rPr>
              <a:t>RETURN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477316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6F7567"/>
                </a:solidFill>
                <a:latin typeface="Aptos"/>
              </a:rPr>
              <a:t>Save articles and pick up where you stopped.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715000"/>
            <a:ext cx="10762488" cy="438912"/>
          </a:xfrm>
          <a:prstGeom prst="roundRect">
            <a:avLst/>
          </a:prstGeom>
          <a:solidFill>
            <a:srgbClr val="172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852160"/>
            <a:ext cx="10241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8"/>
                </a:solidFill>
                <a:latin typeface="Aptos"/>
              </a:rPr>
              <a:t>NO ACCOUNT REQUIRED  /  NO ENDLESS FEED  /  YOUR READING, YOUR CHOICE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D1D796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B1BEA6"/>
                </a:solidFill>
                <a:latin typeface="Aptos"/>
              </a:rPr>
              <a:t>01 / FIRST RUN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B1BEA6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B1BEA6"/>
                </a:solidFill>
                <a:latin typeface="Aptos"/>
              </a:rPr>
              <a:t>03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9264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0" i="0">
                <a:solidFill>
                  <a:srgbClr val="FFFFF8"/>
                </a:solidFill>
                <a:latin typeface="Georgia"/>
              </a:rPr>
              <a:t>Start with interests.
Not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14016"/>
            <a:ext cx="3520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B1BEA6"/>
                </a:solidFill>
                <a:latin typeface="Aptos"/>
              </a:rPr>
              <a:t>The first screen asks what you like to read—not who you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1">
                <a:solidFill>
                  <a:srgbClr val="D1D796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3392424"/>
            <a:ext cx="2898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FFF8"/>
                </a:solidFill>
                <a:latin typeface="Aptos"/>
              </a:rPr>
              <a:t>Pick a few subjects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675888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1BEA6"/>
                </a:solidFill>
                <a:latin typeface="Aptos"/>
              </a:rPr>
              <a:t>Technology, engineering, science, design and more.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8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1">
                <a:solidFill>
                  <a:srgbClr val="D1D796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4288536"/>
            <a:ext cx="2898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FFF8"/>
                </a:solidFill>
                <a:latin typeface="Aptos"/>
              </a:rPr>
              <a:t>Change them anytime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572000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1BEA6"/>
                </a:solidFill>
                <a:latin typeface="Aptos"/>
              </a:rPr>
              <a:t>Interests shape the starting point, not a permanent profile.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93792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1">
                <a:solidFill>
                  <a:srgbClr val="D1D796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184648"/>
            <a:ext cx="2898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FFF8"/>
                </a:solidFill>
                <a:latin typeface="Aptos"/>
              </a:rPr>
              <a:t>No sign-up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5468112"/>
            <a:ext cx="2898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1BEA6"/>
                </a:solidFill>
                <a:latin typeface="Aptos"/>
              </a:rPr>
              <a:t>No account or personal profile is created.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1627632"/>
            <a:ext cx="7205472" cy="3749039"/>
          </a:xfrm>
          <a:prstGeom prst="rect">
            <a:avLst/>
          </a:prstGeom>
          <a:solidFill>
            <a:srgbClr val="EB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nboarding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872238"/>
            <a:ext cx="6949440" cy="325982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4672" y="615391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i="0">
                <a:solidFill>
                  <a:srgbClr val="D1D796"/>
                </a:solidFill>
                <a:latin typeface="Aptos"/>
              </a:rPr>
              <a:t>INTERESTS FIRST  /  NO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DE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224338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F7567"/>
                </a:solidFill>
                <a:latin typeface="Aptos"/>
              </a:rPr>
              <a:t>02 / DISCOVERY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6F7567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6F7567"/>
                </a:solidFill>
                <a:latin typeface="Aptos"/>
              </a:rPr>
              <a:t>04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3749039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 i="0">
                <a:solidFill>
                  <a:srgbClr val="222B25"/>
                </a:solidFill>
                <a:latin typeface="Georgia"/>
              </a:rPr>
              <a:t>Find the next blog
to follow.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1226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F7567"/>
                </a:solidFill>
                <a:latin typeface="Aptos"/>
              </a:rPr>
              <a:t>Two paths surface publications worth exploring.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2761488"/>
            <a:ext cx="3794760" cy="1078992"/>
          </a:xfrm>
          <a:prstGeom prst="rect">
            <a:avLst/>
          </a:prstGeom>
          <a:solidFill>
            <a:srgbClr val="FAF7EE"/>
          </a:solidFill>
          <a:ln w="10160">
            <a:solidFill>
              <a:srgbClr val="CAC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2907792"/>
            <a:ext cx="1417320" cy="292608"/>
          </a:xfrm>
          <a:prstGeom prst="roundRect">
            <a:avLst/>
          </a:prstGeom>
          <a:solidFill>
            <a:srgbClr val="D1D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976372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224338"/>
                </a:solidFill>
                <a:latin typeface="Aptos"/>
              </a:rPr>
              <a:t>01  TOPIC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46704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222B25"/>
                </a:solidFill>
                <a:latin typeface="Aptos"/>
              </a:rPr>
              <a:t>Find publications around the subjects you picked.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4023360"/>
            <a:ext cx="3794760" cy="1261872"/>
          </a:xfrm>
          <a:prstGeom prst="rect">
            <a:avLst/>
          </a:prstGeom>
          <a:solidFill>
            <a:srgbClr val="172F28"/>
          </a:solidFill>
          <a:ln w="10160">
            <a:solidFill>
              <a:srgbClr val="172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" y="4187952"/>
            <a:ext cx="1737360" cy="292608"/>
          </a:xfrm>
          <a:prstGeom prst="roundRect">
            <a:avLst/>
          </a:prstGeom>
          <a:solidFill>
            <a:srgbClr val="D1D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25653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172F28"/>
                </a:solidFill>
                <a:latin typeface="Aptos"/>
              </a:rPr>
              <a:t>02  RELATED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FFFFF8"/>
                </a:solidFill>
                <a:latin typeface="Aptos"/>
              </a:rPr>
              <a:t>Aggregate co-subscription patterns suggest what to read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596128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1">
                <a:solidFill>
                  <a:srgbClr val="6F7567"/>
                </a:solidFill>
                <a:latin typeface="Aptos"/>
              </a:rPr>
              <a:t>Suggestions, not a prescribed feed. You decide what to follow.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016" y="1627632"/>
            <a:ext cx="6885432" cy="3749039"/>
          </a:xfrm>
          <a:prstGeom prst="rect">
            <a:avLst/>
          </a:prstGeom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iscovery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34432"/>
            <a:ext cx="6684264" cy="31354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" y="6153912"/>
            <a:ext cx="37490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i="0">
                <a:solidFill>
                  <a:srgbClr val="224338"/>
                </a:solidFill>
                <a:latin typeface="Aptos"/>
              </a:rPr>
              <a:t>TOPIC MATCH  +  RELATED PUBLICATIONS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D1D796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B1BEA6"/>
                </a:solidFill>
                <a:latin typeface="Aptos"/>
              </a:rPr>
              <a:t>03 /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B1BEA6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B1BEA6"/>
                </a:solidFill>
                <a:latin typeface="Aptos"/>
              </a:rPr>
              <a:t>05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32688"/>
            <a:ext cx="374903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900" b="0" i="0">
                <a:solidFill>
                  <a:srgbClr val="FFFFF8"/>
                </a:solidFill>
                <a:latin typeface="Georgia"/>
              </a:rPr>
              <a:t>Blogs you follow.
One fresh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231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B1BEA6"/>
                </a:solidFill>
                <a:latin typeface="Aptos"/>
              </a:rPr>
              <a:t>New posts from the publications you follow, gathered in one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749039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D1D796"/>
                </a:solidFill>
                <a:latin typeface="Aptos"/>
              </a:rPr>
              <a:t>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4096512"/>
            <a:ext cx="704088" cy="0"/>
          </a:xfrm>
          <a:prstGeom prst="line">
            <a:avLst/>
          </a:prstGeom>
          <a:ln w="25400">
            <a:solidFill>
              <a:srgbClr val="C265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83080" y="3749039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B1BEA6"/>
                </a:solidFill>
                <a:latin typeface="Aptos"/>
              </a:rPr>
              <a:t>UNREAD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49039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B1BEA6"/>
                </a:solidFill>
                <a:latin typeface="Aptos"/>
              </a:rPr>
              <a:t>SAVED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4434840"/>
            <a:ext cx="3566160" cy="0"/>
          </a:xfrm>
          <a:prstGeom prst="line">
            <a:avLst/>
          </a:prstGeom>
          <a:ln w="10160">
            <a:solidFill>
              <a:srgbClr val="4B65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480060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1">
                <a:solidFill>
                  <a:srgbClr val="D1D796"/>
                </a:solidFill>
                <a:latin typeface="Georgia"/>
              </a:rPr>
              <a:t>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791456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FFF8"/>
                </a:solidFill>
                <a:latin typeface="Aptos"/>
              </a:rPr>
              <a:t>Refresh when you're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5074920"/>
            <a:ext cx="33101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B1BEA6"/>
                </a:solidFill>
                <a:latin typeface="Aptos"/>
              </a:rPr>
              <a:t>Check followed feeds for new writing, on your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1627632"/>
            <a:ext cx="7004304" cy="3749039"/>
          </a:xfrm>
          <a:prstGeom prst="rect">
            <a:avLst/>
          </a:prstGeom>
          <a:solidFill>
            <a:srgbClr val="ED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imeline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910841"/>
            <a:ext cx="6784848" cy="31826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224338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F7567"/>
                </a:solidFill>
                <a:latin typeface="Aptos"/>
              </a:rPr>
              <a:t>04 / READING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6F7567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6F7567"/>
                </a:solidFill>
                <a:latin typeface="Aptos"/>
              </a:rPr>
              <a:t>06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457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0" i="0">
                <a:solidFill>
                  <a:srgbClr val="222B25"/>
                </a:solidFill>
                <a:latin typeface="Georgia"/>
              </a:rPr>
              <a:t>Open the post.
Keep the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59152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6F7567"/>
                </a:solidFill>
                <a:latin typeface="Aptos"/>
              </a:rPr>
              <a:t>The reader extracts the article into a clean view, away from the clutter of the original page.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3493008"/>
            <a:ext cx="3328416" cy="0"/>
          </a:xfrm>
          <a:prstGeom prst="line">
            <a:avLst/>
          </a:prstGeom>
          <a:ln w="10160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372160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i="0">
                <a:solidFill>
                  <a:srgbClr val="C26543"/>
                </a:solidFill>
                <a:latin typeface="Aptos"/>
              </a:rPr>
              <a:t>FEED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675887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C26543"/>
                </a:solidFill>
                <a:latin typeface="Georgia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7216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i="0">
                <a:solidFill>
                  <a:srgbClr val="224338"/>
                </a:solidFill>
                <a:latin typeface="Aptos"/>
              </a:rPr>
              <a:t>READING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24528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F7567"/>
                </a:solidFill>
                <a:latin typeface="Aptos"/>
              </a:rPr>
              <a:t>The original publication stays one click away.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1627632"/>
            <a:ext cx="7004304" cy="3749039"/>
          </a:xfrm>
          <a:prstGeom prst="rect">
            <a:avLst/>
          </a:prstGeom>
          <a:solidFill>
            <a:srgbClr val="F2E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ader_a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910841"/>
            <a:ext cx="6784848" cy="318261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13232" y="5138928"/>
            <a:ext cx="3401568" cy="786384"/>
          </a:xfrm>
          <a:prstGeom prst="roundRect">
            <a:avLst/>
          </a:prstGeom>
          <a:solidFill>
            <a:srgbClr val="172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218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D1D796"/>
                </a:solidFill>
                <a:latin typeface="Aptos"/>
              </a:rPr>
              <a:t>READ AT YOUR 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55955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FFFFF8"/>
                </a:solidFill>
                <a:latin typeface="Aptos"/>
              </a:rPr>
              <a:t>Article content, without the detour.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65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224338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F7567"/>
                </a:solidFill>
                <a:latin typeface="Aptos"/>
              </a:rPr>
              <a:t>05 / READING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CAC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6F7567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6F7567"/>
                </a:solidFill>
                <a:latin typeface="Aptos"/>
              </a:rPr>
              <a:t>07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4160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0" i="0">
                <a:solidFill>
                  <a:srgbClr val="FFFFF8"/>
                </a:solidFill>
                <a:latin typeface="Georgia"/>
              </a:rPr>
              <a:t>Keep the article.
Keep your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41448"/>
            <a:ext cx="36118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FAE0CF"/>
                </a:solidFill>
                <a:latin typeface="Aptos"/>
              </a:rPr>
              <a:t>A reading list should remember what matters, without asking you to manage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3493008"/>
            <a:ext cx="3419855" cy="0"/>
          </a:xfrm>
          <a:prstGeom prst="line">
            <a:avLst/>
          </a:prstGeom>
          <a:ln w="12700">
            <a:solidFill>
              <a:srgbClr val="E2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74903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FFFFF8"/>
                </a:solidFill>
                <a:latin typeface="Aptos"/>
              </a:rPr>
              <a:t>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3749039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AE0CF"/>
                </a:solidFill>
                <a:latin typeface="Aptos"/>
              </a:rPr>
              <a:t>For later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059935"/>
            <a:ext cx="3364992" cy="0"/>
          </a:xfrm>
          <a:prstGeom prst="line">
            <a:avLst/>
          </a:prstGeom>
          <a:ln w="7620">
            <a:solidFill>
              <a:srgbClr val="E2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27939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FFFFF8"/>
                </a:solidFill>
                <a:latin typeface="Aptos"/>
              </a:rPr>
              <a:t>READ / UNREAD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427939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AE0CF"/>
                </a:solidFill>
                <a:latin typeface="Aptos"/>
              </a:rPr>
              <a:t>Know what's done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90288"/>
            <a:ext cx="3364992" cy="0"/>
          </a:xfrm>
          <a:prstGeom prst="line">
            <a:avLst/>
          </a:prstGeom>
          <a:ln w="7620">
            <a:solidFill>
              <a:srgbClr val="E2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80974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FFFFF8"/>
                </a:solidFill>
                <a:latin typeface="Aptos"/>
              </a:rP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480974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AE0CF"/>
                </a:solidFill>
                <a:latin typeface="Aptos"/>
              </a:rPr>
              <a:t>Return where you stopped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120640"/>
            <a:ext cx="3364992" cy="0"/>
          </a:xfrm>
          <a:prstGeom prst="line">
            <a:avLst/>
          </a:prstGeom>
          <a:ln w="7620">
            <a:solidFill>
              <a:srgbClr val="E29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65099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FFFFF8"/>
                </a:solidFill>
                <a:latin typeface="Aptos"/>
              </a:rPr>
              <a:t>A small memory for a long reading list.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627632"/>
            <a:ext cx="7004304" cy="3749039"/>
          </a:xfrm>
          <a:prstGeom prst="rect">
            <a:avLst/>
          </a:prstGeom>
          <a:solidFill>
            <a:srgbClr val="F6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aved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910841"/>
            <a:ext cx="6784848" cy="3182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D1D796"/>
                </a:solidFill>
                <a:latin typeface="Aptos"/>
              </a:rPr>
              <a:t>S. / SMALL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B1BEA6"/>
                </a:solidFill>
                <a:latin typeface="Aptos"/>
              </a:rPr>
              <a:t>UNDER THE SURFACE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2179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224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47104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i="0">
                <a:solidFill>
                  <a:srgbClr val="B1BEA6"/>
                </a:solidFill>
                <a:latin typeface="Aptos"/>
              </a:rPr>
              <a:t>PS-003  ·  16HOLYCOLOURS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B1BEA6"/>
                </a:solidFill>
                <a:latin typeface="Aptos"/>
              </a:rPr>
              <a:t>08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96112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900" b="0" i="0">
                <a:solidFill>
                  <a:srgbClr val="FFFFF8"/>
                </a:solidFill>
                <a:latin typeface="Georgia"/>
              </a:rPr>
              <a:t>Simple on the surface.
Deliberate underneath.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21992"/>
            <a:ext cx="7132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B1BEA6"/>
                </a:solidFill>
                <a:latin typeface="Aptos"/>
              </a:rPr>
              <a:t>A reader-first frontend, with a small service for retrieval and anonymous discovery signals.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127248"/>
            <a:ext cx="5074920" cy="2039112"/>
          </a:xfrm>
          <a:prstGeom prst="rect">
            <a:avLst/>
          </a:prstGeom>
          <a:solidFill>
            <a:srgbClr val="224338"/>
          </a:solidFill>
          <a:ln w="10160">
            <a:solidFill>
              <a:srgbClr val="4F6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34670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D1D796"/>
                </a:solidFill>
                <a:latin typeface="Aptos"/>
              </a:rPr>
              <a:t>IN THE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79476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FFFFF8"/>
                </a:solidFill>
                <a:latin typeface="Aptos"/>
              </a:rPr>
              <a:t>RSS / Atom parsing     ·     Article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2452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B1BEA6"/>
                </a:solidFill>
                <a:latin typeface="Aptos"/>
              </a:rPr>
              <a:t>Saved articles     ·     Read state     ·    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2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B1BEA6"/>
                </a:solidFill>
                <a:latin typeface="Aptos"/>
              </a:rPr>
              <a:t>Local browser storage supports the reading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3822191"/>
            <a:ext cx="502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D1D796"/>
                </a:solidFill>
                <a:latin typeface="Aptos"/>
              </a:rPr>
              <a:t>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3127248"/>
            <a:ext cx="4965192" cy="2039112"/>
          </a:xfrm>
          <a:prstGeom prst="rect">
            <a:avLst/>
          </a:prstGeom>
          <a:solidFill>
            <a:srgbClr val="F5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34670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224338"/>
                </a:solidFill>
                <a:latin typeface="Aptos"/>
              </a:rPr>
              <a:t>BACKEND +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222B25"/>
                </a:solidFill>
                <a:latin typeface="Aptos"/>
              </a:rPr>
              <a:t>Public feed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2452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F7567"/>
                </a:solidFill>
                <a:latin typeface="Aptos"/>
              </a:rPr>
              <a:t>Aggregate popularity + co-subscription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908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224338"/>
                </a:solidFill>
                <a:latin typeface="Aptos"/>
              </a:rPr>
              <a:t>No reader account or personal profile.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60527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1">
                <a:solidFill>
                  <a:srgbClr val="D1D796"/>
                </a:solidFill>
                <a:latin typeface="Georgia"/>
              </a:rPr>
              <a:t>Less feed. More reading.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5779008"/>
            <a:ext cx="5321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B1BEA6"/>
                </a:solidFill>
                <a:latin typeface="Aptos"/>
              </a:rPr>
              <a:t>Prototype note: discovery popularity values are seeded demo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